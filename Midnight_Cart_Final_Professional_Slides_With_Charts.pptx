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Midnight Cart's issue is not just order volume; it is completed, profitable orders during late hours. We started with 2,784 rows. We removed 84 exact duplicate rows and excluded 15 zero-value baskets from the main analysis, leaving 2,685 rows. There were 394 cancellations, or 14.7%. Our aim is to identify evidence-backed changes, not assume a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charts in order. At 11 PM, 96 of 241 orders were cancelled, which is 39.8%. At midnight, 35 of 139 were cancelled, or 25.2%. When the app showed an ETA above 20 minutes, 74 of 115 orders were cancelled, or 64.3%; below or equal to 20 minutes, the rate was about 12.5%. These patterns are associations, not proof that rider shortage or ETA alone caused cancellation. We recommend a targeted operational pilot and root-cause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FIRST50 orders cancelled at 31.6%, versus 11.9% for orders without a coupon. Delivered FIRST50 orders show a contribution proxy of negative ₹18.95 per order, and negative ₹4,586.75 total across 242 delivered orders. This is not net profit: labour, picking, spoilage and other costs are missing. Exam-week cancellation rate was 25.0%, compared with 12.4% outside exam weeks. The recommendation is a controlled coupon test and an exam-week operating plan. Do not claim the coupon alone causes cancellation.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recall first: the model found about 78 out of every 100 cancellations in the held-out test set. Precision is lower: only about 37 out of every 100 flagged orders actually cancelled, so there are false alarms. ROC-AUC is 0.812, which suggests useful ranking ability, but it is not a guarantee. The test set is chronological to simulate future orders. The model should help staff prioritise checks, not block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with a clear decision. Start with the FIRST50 test because this dataset directly shows the cancellation difference and negative contribution proxy, but use a control group. The ₹3,000 is only an illustrative scenario: ₹10 improvement times 300 eligible delivered orders, not a promise. For riders and inventory, the source file lacks wages, stock-out and holding-cost data, so use the formulas and collect the missing costs during pilots. Our goal is not only fewer cancellations; it is more completed orders with measured positive contribution.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744"/>
                </a:solidFill>
              </a:defRPr>
            </a:pPr>
            <a:r>
              <a:t>Midnight Cart: The 2 AM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Decision brief for Rohan Mehta · City Operations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563EB"/>
                </a:solidFill>
              </a:defRPr>
            </a:pPr>
            <a: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334155"/>
                </a:solidFill>
              </a:defRPr>
            </a:pPr>
            <a:r>
              <a:t>•  Orders are growing, but profit is flat and late-night complaints are rising.</a:t>
            </a:r>
          </a:p>
          <a:p>
            <a:pPr>
              <a:spcAft>
                <a:spcPts val="1300"/>
              </a:spcAft>
              <a:defRPr sz="1700">
                <a:solidFill>
                  <a:srgbClr val="334155"/>
                </a:solidFill>
              </a:defRPr>
            </a:pPr>
            <a:r>
              <a:t>•  We need to identify when cancellations spike, test checkout-time risk prediction, and recommend changes worth measuring.</a:t>
            </a:r>
          </a:p>
        </p:txBody>
      </p:sp>
      <p:pic>
        <p:nvPicPr>
          <p:cNvPr id="7" name="Picture 6" descr="clea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325880"/>
            <a:ext cx="5806440" cy="3063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343400"/>
            <a:ext cx="233172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453128"/>
            <a:ext cx="200253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RAW ORDERS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2,784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Source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343400"/>
            <a:ext cx="233172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4453128"/>
            <a:ext cx="200253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ANALYSIS ROWS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2,685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After cleaning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4343400"/>
            <a:ext cx="233172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25312" y="4453128"/>
            <a:ext cx="200253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CANCELLATIONS</a:t>
            </a:r>
          </a:p>
          <a:p>
            <a:pPr>
              <a:defRPr sz="2300" b="1">
                <a:solidFill>
                  <a:srgbClr val="D97706"/>
                </a:solidFill>
              </a:defRPr>
            </a:pPr>
            <a:r>
              <a:t>394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14.7% of analysis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4343400"/>
            <a:ext cx="283464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4453128"/>
            <a:ext cx="250545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DECISION FOCUS</a:t>
            </a:r>
          </a:p>
          <a:p>
            <a:pPr>
              <a:defRPr sz="2300" b="1">
                <a:solidFill>
                  <a:srgbClr val="0F766E"/>
                </a:solidFill>
              </a:defRPr>
            </a:pPr>
            <a:r>
              <a:t>Test first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Avoid unverified large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Cleaning: removed 84 exact duplicate rows; excluded 15 zero-value baskets from contribution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DSAI Challenge  |  IIT Roorkee × Masai  | 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744"/>
                </a:solidFill>
              </a:defRPr>
            </a:pPr>
            <a:r>
              <a:t>1. Cancellation risk peaks late at night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Operational signal: use the risk window to focus investigation</a:t>
            </a:r>
          </a:p>
        </p:txBody>
      </p:sp>
      <p:pic>
        <p:nvPicPr>
          <p:cNvPr id="5" name="Picture 4" descr="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806440" cy="3520440"/>
          </a:xfrm>
          <a:prstGeom prst="rect">
            <a:avLst/>
          </a:prstGeom>
        </p:spPr>
      </p:pic>
      <p:pic>
        <p:nvPicPr>
          <p:cNvPr id="6" name="Picture 5" descr="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303520" cy="3520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5074920"/>
            <a:ext cx="274320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5184648"/>
            <a:ext cx="24140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11 PM CANCELLATION</a:t>
            </a:r>
          </a:p>
          <a:p>
            <a:pPr>
              <a:defRPr sz="2300" b="1">
                <a:solidFill>
                  <a:srgbClr val="D97706"/>
                </a:solidFill>
              </a:defRPr>
            </a:pPr>
            <a:r>
              <a:t>39.8%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96 cancellations / 241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5074920"/>
            <a:ext cx="274320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7911" y="5184648"/>
            <a:ext cx="24140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ETA &gt; 20 MIN</a:t>
            </a:r>
          </a:p>
          <a:p>
            <a:pPr>
              <a:defRPr sz="2300" b="1">
                <a:solidFill>
                  <a:srgbClr val="0F766E"/>
                </a:solidFill>
              </a:defRPr>
            </a:pPr>
            <a:r>
              <a:t>64.3%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74 cancellations / 115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5074920"/>
            <a:ext cx="438912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5184648"/>
            <a:ext cx="40599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SO WHAT?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Pilot + measure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Review riders, picking delays and ETA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DSAI Challenge  |  IIT Roorkee × Masai  | 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744"/>
                </a:solidFill>
              </a:defRPr>
            </a:pPr>
            <a:r>
              <a:t>2. Coupon and exam-week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The strongest commercial test is FIRST50; exam weeks need a separate operating plan</a:t>
            </a:r>
          </a:p>
        </p:txBody>
      </p:sp>
      <p:pic>
        <p:nvPicPr>
          <p:cNvPr id="5" name="Picture 4" descr="coup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5486400" cy="3246120"/>
          </a:xfrm>
          <a:prstGeom prst="rect">
            <a:avLst/>
          </a:prstGeom>
        </p:spPr>
      </p:pic>
      <p:pic>
        <p:nvPicPr>
          <p:cNvPr id="6" name="Picture 5" descr="ex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71600"/>
            <a:ext cx="5394960" cy="3246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4892040"/>
            <a:ext cx="306324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5001768"/>
            <a:ext cx="273405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FIRST50 CONTRIBUTION PROXY</a:t>
            </a:r>
          </a:p>
          <a:p>
            <a:pPr>
              <a:defRPr sz="2300" b="1">
                <a:solidFill>
                  <a:srgbClr val="D97706"/>
                </a:solidFill>
              </a:defRPr>
            </a:pPr>
            <a:r>
              <a:t>−₹18.95/order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242 delivered orders; total −₹4,586.75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4892040"/>
            <a:ext cx="306324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5001768"/>
            <a:ext cx="273405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FIRST50 CANCELLATIONS</a:t>
            </a:r>
          </a:p>
          <a:p>
            <a:pPr>
              <a:defRPr sz="2300" b="1">
                <a:solidFill>
                  <a:srgbClr val="D97706"/>
                </a:solidFill>
              </a:defRPr>
            </a:pPr>
            <a:r>
              <a:t>31.6%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112 / 354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4892040"/>
            <a:ext cx="342900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5001768"/>
            <a:ext cx="309981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EXAM-WEEK CANCELLATIONS</a:t>
            </a:r>
          </a:p>
          <a:p>
            <a:pPr>
              <a:defRPr sz="2300" b="1">
                <a:solidFill>
                  <a:srgbClr val="0F766E"/>
                </a:solidFill>
              </a:defRPr>
            </a:pPr>
            <a:r>
              <a:t>25.0%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120 / 480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Contribution proxy is not audited net profit; it excludes several operating costs.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DSAI Challenge  |  IIT Roorkee × Masai  | 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744"/>
                </a:solidFill>
              </a:defRPr>
            </a:pPr>
            <a:r>
              <a:t>3. Can we predict cancellation at checkout?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Logistic Regression · chronological holdout · 672 later orders</a:t>
            </a:r>
          </a:p>
        </p:txBody>
      </p:sp>
      <p:pic>
        <p:nvPicPr>
          <p:cNvPr id="5" name="Picture 4" descr="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852160" cy="3383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720840" y="1600200"/>
            <a:ext cx="210312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5431" y="1709928"/>
            <a:ext cx="177393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RECALL</a:t>
            </a:r>
          </a:p>
          <a:p>
            <a:pPr>
              <a:defRPr sz="2300" b="1">
                <a:solidFill>
                  <a:srgbClr val="0F766E"/>
                </a:solidFill>
              </a:defRPr>
            </a:pPr>
            <a:r>
              <a:t>78.2%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Finds about 78/100 cancellations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10312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7152" y="1709928"/>
            <a:ext cx="1773936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PRECISION</a:t>
            </a:r>
          </a:p>
          <a:p>
            <a:pPr>
              <a:defRPr sz="2300" b="1">
                <a:solidFill>
                  <a:srgbClr val="D97706"/>
                </a:solidFill>
              </a:defRPr>
            </a:pPr>
            <a:r>
              <a:t>36.6%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About 37/100 alerts are cancellations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9718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</a:defRPr>
            </a:pPr>
            <a:r>
              <a:t>•  ROC-AUC: 0.812  |  F1: 49.9%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</a:defRPr>
            </a:pPr>
            <a:r>
              <a:t>•  Use the score to prioritise operational checks—not to reject customers automatically.</a:t>
            </a:r>
          </a:p>
          <a:p>
            <a:pPr>
              <a:spcAft>
                <a:spcPts val="1000"/>
              </a:spcAft>
              <a:defRPr sz="1500">
                <a:solidFill>
                  <a:srgbClr val="334155"/>
                </a:solidFill>
              </a:defRPr>
            </a:pPr>
            <a:r>
              <a:t>•  Only checkout-time features used; rating and refund excluded.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t>Limitation: test-set performance may change with staffing, demand and promotions; precision/recall depend on the chosen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DSAI Challenge  |  IIT Roorkee × Masai  | 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744"/>
                </a:solidFill>
              </a:defRPr>
            </a:pPr>
            <a:r>
              <a:t>What should Rohan change next month?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Three decisions · one controlled first move · measure net impact before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3756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1600200"/>
            <a:ext cx="297180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709928"/>
            <a:ext cx="26426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DECISION</a:t>
            </a:r>
          </a:p>
          <a:p>
            <a:pPr>
              <a:defRPr sz="2300" b="1">
                <a:solidFill>
                  <a:srgbClr val="D97706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97706"/>
                </a:solidFill>
              </a:defRPr>
            </a:pPr>
            <a:r>
              <a:t>TEST FIRST50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92608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 A/B test minimum basket or smaller discount.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79476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32744"/>
                </a:solidFill>
              </a:defRPr>
            </a:pPr>
            <a:r>
              <a:t>₹ scenario: ₹10 improvement × 300 eligible delivered orders/month = ₹3,000/month.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80060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Evidence: 31.6% cancellation; −₹18.95 contribution proxy per delivered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417320"/>
            <a:ext cx="333756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5112" y="1600200"/>
            <a:ext cx="297180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3" y="1709928"/>
            <a:ext cx="26426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DECISION</a:t>
            </a:r>
          </a:p>
          <a:p>
            <a:pPr>
              <a:defRPr sz="2300" b="1">
                <a:solidFill>
                  <a:srgbClr val="0F766E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766E"/>
                </a:solidFill>
              </a:defRPr>
            </a:pPr>
            <a:r>
              <a:t>PILOT NIGHT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92608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 Pilot targeted coverage around 11 PM–1 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379476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32744"/>
                </a:solidFill>
              </a:defRPr>
            </a:pPr>
            <a:r>
              <a:t>₹ formula: incremental completed orders × contribution/order − added rider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480060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Evidence: 39.8% cancellation at 11 PM; ETA &gt;20 min group at 64.3%.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1417320"/>
            <a:ext cx="3337560" cy="42976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91271" y="1600200"/>
            <a:ext cx="297180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5863" y="1709928"/>
            <a:ext cx="26426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DECISION</a:t>
            </a:r>
          </a:p>
          <a:p>
            <a:pPr>
              <a:defRPr sz="2300" b="1">
                <a:solidFill>
                  <a:srgbClr val="2563EB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563EB"/>
                </a:solidFill>
              </a:defRPr>
            </a:pPr>
            <a:r>
              <a:t>PRIORITISE NIGHT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2926080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</a:defRPr>
            </a:pPr>
            <a:r>
              <a:t>•  Use hour × category × hostel-zone demand to select essentials.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3794760"/>
            <a:ext cx="2880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32744"/>
                </a:solidFill>
              </a:defRPr>
            </a:pPr>
            <a:r>
              <a:t>₹ formula: recovered orders × contribution/order − inventory and spoilage cost.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480060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Evidence: late-night and exam-week risk; validate with a stock pilot.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9436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32744"/>
                </a:solidFill>
              </a:defRPr>
            </a:pPr>
            <a:r>
              <a:t>Recommendation: start with the controlled FIRST50 test. Scale only after measured outcomes and full operating costs.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DSAI Challenge  |  IIT Roorkee × Masai  | 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